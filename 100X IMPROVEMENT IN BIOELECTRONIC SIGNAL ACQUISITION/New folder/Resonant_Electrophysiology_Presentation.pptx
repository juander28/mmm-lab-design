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7" autoAdjust="0"/>
    <p:restoredTop sz="85064" autoAdjust="0"/>
  </p:normalViewPr>
  <p:slideViewPr>
    <p:cSldViewPr snapToGrid="0" snapToObjects="1">
      <p:cViewPr varScale="1">
        <p:scale>
          <a:sx n="81" d="100"/>
          <a:sy n="81" d="100"/>
        </p:scale>
        <p:origin x="52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7080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ELECTROPHYSIOLOGY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 More EMG Channels via Frequency-Domain Multiplexing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13716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Diego Sanchez   |   UCI Samueli Engineering   |  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55448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1554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1874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EMG systems are limited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468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828800" y="2788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 multiplexing concept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338328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33832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 Requirements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28800" y="3703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resonator must provide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29768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4297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Samantha's First Approximation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4617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circuit design and equations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521208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5212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Q-Enhancement Approach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828800" y="5532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Simulations, IGZO path, power needs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EMG systems hit a hard ceiling on channel count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669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EMG: one dedicated trace per electrode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EMG cannot resolve individual muscle fibers (forearm has ~18 muscles)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Cross-talk between superficial and deep muscles is unsolvable externally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systems: tens of channels max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554480"/>
            <a:ext cx="4846320" cy="411480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0" y="1737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0" y="210312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</a:t>
            </a:r>
            <a:endParaRPr lang="en-US" sz="13000" dirty="0"/>
          </a:p>
        </p:txBody>
      </p:sp>
      <p:sp>
        <p:nvSpPr>
          <p:cNvPr id="9" name="Text 7"/>
          <p:cNvSpPr/>
          <p:nvPr/>
        </p:nvSpPr>
        <p:spPr>
          <a:xfrm>
            <a:off x="7040880" y="3931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channels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503920" y="4572000"/>
            <a:ext cx="15544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40880" y="4754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~10 to 1000+ EMG channels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5120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single transmission 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limited monitoring to electrophysiological imaging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60604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031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Prosthetic Control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motor unit decoding enables natural prosthetic limb control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0604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0" y="21031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57600" y="29260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Recovery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34747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Single-fiber resolution to track muscle re-innervation during rehabilitation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2606040" cy="914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21031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46520" y="29260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Monitoring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34747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technology applicable to arrhythmia mapping (NHLBI applications)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61120" y="1828800"/>
            <a:ext cx="2606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961120" y="1828800"/>
            <a:ext cx="2606040" cy="9144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35440" y="210312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Interfaces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35440" y="347472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brain recording for novel BCI applications (NIH R01 targets)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enable "electrophysiological imaging" — 3D reconstruction of electrical activity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Frequency-Domain Multiplexing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FM radio, but for thousands of biopotential channels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39319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electrode site has its own unique resonant frequency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resonators sit on a single shared transmission line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EMG signal at each site modulates its resonator's frequency (via varactor)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reader injects all frequencies simultaneously and decodes them in software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5394960"/>
            <a:ext cx="5303520" cy="640080"/>
          </a:xfrm>
          <a:prstGeom prst="rect">
            <a:avLst/>
          </a:prstGeom>
          <a:solidFill>
            <a:srgbClr val="21295C">
              <a:alpha val="10000"/>
            </a:srgbClr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54406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signal shifts each notch slightly  →  signal recovered via DSP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E83C2E2-907D-10C5-2B45-405AC0624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539747"/>
            <a:ext cx="6142718" cy="34284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Signal Flows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signal systems — biopotential and carrier — connected by the varactor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0352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3035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Body (Reader)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Generator emits sum of sinusoids at all carrier frequencies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passes through skin via capacitive coupling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through skin after passing through implant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samples returning signal at &gt;50 MSPS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algorithm recovers individual channel phases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303520" cy="4389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30352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Body (Implant)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219456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sinusoids travel along the transmission line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resonator couples to the TL via coupling capacitors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of electrodes per resonator senses local EMG (μV-mV)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voltage modulates varactor capacitance C(V)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Resonance frequency shifts → phase change on carrier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EMG signal never enters the transmission line — it modulates the resonator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Resonator Must Deliver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Software-driven requirements — independent of circuit implementation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Samantha's DSP algorithm requires each resonator to provide phase information at a unique frequency. This imposes three hard requirements: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657600" cy="39319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0" y="233172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Resonant Frequency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channel occupies its own narrow band in the 50-200 MHz range. With 1000 channels in 150 MHz available, each gets 150 kHz of bandwidth.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5440680"/>
            <a:ext cx="2743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400" y="5440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 kHz / channel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2103120"/>
            <a:ext cx="3657600" cy="39319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23560" y="233172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2356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43484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Quality Factor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26280" y="39776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−3dB bandwidth must be ≥5× smaller than channel spacing to prevent crosstalk. This is the most challenging requirement.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5440680"/>
            <a:ext cx="2743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5440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≥ 1667 (at 50 MHz)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2103120"/>
            <a:ext cx="3657600" cy="39319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418320" y="233172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1832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22960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Phase Response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21040" y="39776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recovers the EMG signal from phase shifts. Requires linear, monotonic phase change in the operating region around f₀.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5440680"/>
            <a:ext cx="2743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03920" y="5440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∠H(ω) near f₀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Samantha's DSP Algorithm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phase information becomes the recovered EMG signal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prior work: one phase sample per ADC sample (not one per FFT window)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576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Quadrature Construction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input/output, multiply by Heaviside step to get analytic signal, IFFT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297680"/>
            <a:ext cx="3108960" cy="5486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43159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68680" y="4544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I/Q from real signal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33088" y="3520440"/>
            <a:ext cx="192024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43400" y="2011680"/>
            <a:ext cx="36576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17720" y="219456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177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92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Isolation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1772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3246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Frequency-domain shift to baseband for each channel, then lowpass filter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4297680"/>
            <a:ext cx="3108960" cy="5486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43159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4544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independent channel streams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19288" y="3520440"/>
            <a:ext cx="192024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29600" y="2011680"/>
            <a:ext cx="365760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503920" y="2194560"/>
            <a:ext cx="640080" cy="64008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5039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2354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Extraction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0392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03920" y="32461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output by input transfer function, take arctan of Im/Re components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03920" y="4297680"/>
            <a:ext cx="3108960" cy="5486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41080" y="43159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641080" y="45445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signal per channel = φ(t)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real-time EMG reconstruction with time resolution = 1/Fs_ADC, not 1/(FFT window size)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Samantha's First Approximation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prototype using passive LC resonators with varactor diodes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&amp; Measurements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Resonator Circuit Schematic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figure here]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1792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PCB Prototype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920240"/>
          <a:ext cx="5486400" cy="204825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Varactor diode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SMV1255-011LF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Coupling capacitor (Cc)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pF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Blocking capacitors (Cb)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nF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Decoupling resistors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kΩ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2.2 - 10 µH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Resonant frequencies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2.9 - 6.3 MHz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2179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Equations (Dissertation Ch. 2)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17920" y="4480560"/>
            <a:ext cx="5486400" cy="64008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17920" y="448056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0" y="4526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frequency: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0" y="47731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ω₀² = 1 / [L(C₀ + Cc)]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17920" y="5212080"/>
            <a:ext cx="5486400" cy="64008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217920" y="5212080"/>
            <a:ext cx="7315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00800" y="5257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FWHM bandwidth: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0" y="55046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Δω_FWHM = R / (L·√12)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Q not optimized. Operating at 2.9-6.3 MHz, not target 50-200 MHz for transcutaneous WPT.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D7198B0-2ED8-1116-B934-6B948377A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55" y="1859771"/>
            <a:ext cx="4212839" cy="179291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4F25AFE-8B43-EC9F-7E5F-9B158705F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588" y="3683655"/>
            <a:ext cx="2920072" cy="23146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to Solve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change from Samantha's first approximation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6576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50-200 MHz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by capacitive coupling through skin for WPT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389120"/>
            <a:ext cx="329184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2.9-6.3 MHz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329184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5074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50-200 MHz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155448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51960" y="1554480"/>
            <a:ext cx="36576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34840" y="16276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286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Q ≥ 1667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3484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34840" y="31089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BW must be ≥5× narrower than channel spacing for low crosstalk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4389120"/>
            <a:ext cx="329184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26280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Q (passive): ~25-50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5029200"/>
            <a:ext cx="329184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26280" y="5074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Q: 1667 - 6667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1554480"/>
            <a:ext cx="3657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46720" y="1554480"/>
            <a:ext cx="3657600" cy="5486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0" y="16276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2286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Ground Inside Body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0" y="2880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31089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ground cannot exist inside human tissue — needs balanced topology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0" y="4389120"/>
            <a:ext cx="329184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21040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notch to ground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5029200"/>
            <a:ext cx="329184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21040" y="5074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differential between TL nodes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Approach: Active Q-Enhancement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Cross-coupled negative-gm circuits to boost Q from ~50 to 1667+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82296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9144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active?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LC in tissue achieves Q ≈ 25-50. We need Q ≥ 1667. Cross-coupled NMOS pair adds a negative resistance (R_neg = −2/gm) that cancels tank losses, multiplying Q.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54864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Q-Enhancement Formula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2129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Q_enh = Q₀ / (1 − gm·Rp/2)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gm·Rp/2 → 1, Q → ∞ (oscillation threshold)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560320"/>
            <a:ext cx="548640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2651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Regions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2971800"/>
            <a:ext cx="109728" cy="228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29400" y="2953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gm·Rp/2 &lt;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83880" y="29535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Q-enhanced filter (STABLE)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3264408"/>
            <a:ext cx="109728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2940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gm·Rp/2 =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8388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Barkhausen threshold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3557016"/>
            <a:ext cx="109728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629400" y="35387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gm·Rp/2 &gt;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83880" y="3538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Oscillator (unstable for FDM)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36576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Cross-Coupled NMOS Pair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5120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negative resistance in parallel with LC tank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51960" y="411480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251960" y="4114800"/>
            <a:ext cx="36576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3484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3484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IGZO Thin-Film Process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434840" y="5120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µm footprint achievable at UCI INRF (Cuervo lab)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46720" y="411480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046720" y="4114800"/>
            <a:ext cx="365760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0" y="4709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Implantable Battery Required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29600" y="5120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circuits need 1-5V bias from Li-ion cell + wireless charging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Results: Active Q-Enhancement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LTspice validation of negative-gm cross-coupled topology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669280" cy="2743200"/>
          </a:xfrm>
          <a:prstGeom prst="rect">
            <a:avLst/>
          </a:prstGeom>
          <a:solidFill>
            <a:srgbClr val="DDE3EB"/>
          </a:solidFill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Cross-Coupled Circuit Schematic (LTspice)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figure here]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486400" cy="2743200"/>
          </a:xfrm>
          <a:prstGeom prst="rect">
            <a:avLst/>
          </a:prstGeom>
          <a:solidFill>
            <a:srgbClr val="DDE3EB"/>
          </a:solidFill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09360" y="2423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0" y="2880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Comparison: Passive vs Active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3246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figure here]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11338560" cy="192024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Simulation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9377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4983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5257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MHz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94360" y="5760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target band (low end)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49377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4983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passive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5257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383280" y="5760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 = 405 nH, Rs = 1.5 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49377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72200" y="4983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enhanced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72200" y="5257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~800+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72200" y="5760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Approaching Barkhausen threshold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69680" y="49377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961120" y="4983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depth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61120" y="5257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 dB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961120" y="5760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improvement over passive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from Q ≈ 800 to Q ≥ 1667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7784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57784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Levers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inductor 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963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Coilcraft RF inductors (Rs &lt; 0.5 Ω). Q₀ scales as 1/Rs.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W/L of MOSFETs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107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gm per mA. Move from default to W/L = 10-50.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two resonators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3251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Q ≈ 1.55× single stage with same components.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MOSFET model (BSIM3/4)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2395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Level 1 to real PDK (TSMC 180 nm).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557784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55778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6276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Needed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PDK access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4963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 180 nm or GF 130 nm BSIM models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1546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varactor SPICE model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4107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EMG modulation simulation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4069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simulator (HFSS/CST)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43251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Inductor Q optimization at 50-200 MHz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4983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with Samantha &amp; Cuervo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52395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DSP-circuit interface specs + IGZO process limits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-1828800"/>
            <a:ext cx="3657600" cy="36576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for the team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8745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Q ≥ 1667 achievable with IGZO TFT-based varactors, or do we need silicon for this?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651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prototype at 50 MHz first or jump directly to 100+ MHz target?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4290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realistic timeline for moving from LTspice simulation to fab tape-out?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2062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Q-enhancement adds power and complexity — what is the team's risk tolerance?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49377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49834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team prefer to validate: simulation milestones, PCB prototype, or directly to IC?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6576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Section Divider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3716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subtitle or descriptive text for this section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Two-Column Layout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Title Here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subtitle text explaining the slide content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1 Header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bullet point with description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bullet point with more detail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bullet point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bullet point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5486400" cy="4389120"/>
          </a:xfrm>
          <a:prstGeom prst="rect">
            <a:avLst/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92240" y="18288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2 Header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5303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column can contain text, an explanation, an image, or any other content. The background color helps distinguish it visually from the left column.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Big Stat Callout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Statement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layout to emphasize a single key number or fact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1247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14000" dirty="0"/>
          </a:p>
        </p:txBody>
      </p:sp>
      <p:sp>
        <p:nvSpPr>
          <p:cNvPr id="8" name="Shape 6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 or descriptive context for the statistic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source or attribution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3-Card Layout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Equal Concepts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layout when comparing or listing 3 related items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65760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Concept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of the first concept, idea, or feature being presented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164592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51960" y="1645920"/>
            <a:ext cx="365760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6280" y="1920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52628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Concept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33832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of the second concept, idea, or feature being presented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3657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0" y="1645920"/>
            <a:ext cx="3657600" cy="914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21040" y="1920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832104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Concept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338328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of the third concept, idea, or feature being presented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Process /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or chronological progression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01168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the first step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468880"/>
            <a:ext cx="5486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06240" y="201168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0624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Two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3566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the second step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0" y="2468880"/>
            <a:ext cx="5486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40880" y="201168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4088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2648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Three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3566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the third step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0" y="2468880"/>
            <a:ext cx="5486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875520" y="201168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7552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89611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Four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1120" y="35661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description of the fourth step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Quote / Highlight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0"/>
            <a:ext cx="8686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 your important quote, key insight, or highlighted statement here. This template draws focus to a single powerful message.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0" y="4937760"/>
            <a:ext cx="13716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5120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Attribution or Source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Image + 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with Image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visual content with explanatory text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943600" cy="4572000"/>
          </a:xfrm>
          <a:prstGeom prst="rect">
            <a:avLst/>
          </a:prstGeom>
          <a:solidFill>
            <a:srgbClr val="DDE3EB"/>
          </a:solidFill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9319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image, chart, or diagram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figure here]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011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Point Here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0" y="26517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explanation of the image content. This is where you describe what the viewer sees and why it matters for your argument.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457200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number 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number two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number three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Data Table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layout for structured numerical or categorical comparisons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27432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1 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A1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B1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for row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2 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A2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B2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for row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3 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A3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B3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for row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4 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A4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B4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for row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5 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A5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B5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for row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footnote or methodology note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Resonant Electrophysiology - UCLA/UCI Collaboration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3214</TotalTime>
  <Words>1987</Words>
  <Application>Microsoft Office PowerPoint</Application>
  <PresentationFormat>Widescreen</PresentationFormat>
  <Paragraphs>382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 Math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Resonant Electrophysiology - High-Channel EMG via Frequency Multiplexing</dc:title>
  <dc:subject>PptxGenJS Presentation</dc:subject>
  <dc:creator>PptxGenJS</dc:creator>
  <cp:lastModifiedBy>Juan Diego Sanchez</cp:lastModifiedBy>
  <cp:revision>7</cp:revision>
  <dcterms:created xsi:type="dcterms:W3CDTF">2026-06-01T07:03:25Z</dcterms:created>
  <dcterms:modified xsi:type="dcterms:W3CDTF">2026-06-24T22:55:55Z</dcterms:modified>
</cp:coreProperties>
</file>